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d1c0f2ea2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35d1c0f2ea2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d1c0f2ea2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g35d1c0f2ea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5d1c0f2ea2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35d1c0f2ea2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5d1c0f2ea2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35d1c0f2ea2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d1c0f2ea2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5d1c0f2ea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5d1c0f2ea2_0_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35d1c0f2ea2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5d1c0f2ea2_0_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35d1c0f2ea2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5d1c0f2ea2_0_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35d1c0f2ea2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5d1c0f2ea2_0_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35d1c0f2ea2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d1c0f2ea2_0_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35d1c0f2ea2_0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914400" y="2130432"/>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963084" y="4406907"/>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12800" y="1600206"/>
            <a:ext cx="7213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8229600" y="1600206"/>
            <a:ext cx="7213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6193372"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93372"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09603"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4766733" y="273057"/>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609603" y="1435103"/>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2389717" y="612775"/>
            <a:ext cx="7315200" cy="4114800"/>
          </a:xfrm>
          <a:prstGeom prst="rect">
            <a:avLst/>
          </a:prstGeom>
          <a:noFill/>
          <a:ln>
            <a:noFill/>
          </a:ln>
        </p:spPr>
      </p:sp>
      <p:sp>
        <p:nvSpPr>
          <p:cNvPr id="68" name="Google Shape;68;p1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833019" y="-1623212"/>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0688638" y="1371608"/>
            <a:ext cx="5851525" cy="3657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3271838" y="-2184392"/>
            <a:ext cx="5851525" cy="1076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09600" y="1600206"/>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437324" y="908628"/>
            <a:ext cx="11317500" cy="168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500" i="1">
                <a:latin typeface="Times New Roman"/>
                <a:ea typeface="Times New Roman"/>
                <a:cs typeface="Times New Roman"/>
                <a:sym typeface="Times New Roman"/>
              </a:rPr>
              <a:t>3D Object Detection with LiDAR</a:t>
            </a:r>
            <a:endParaRPr sz="4500" i="1">
              <a:latin typeface="Times New Roman"/>
              <a:ea typeface="Times New Roman"/>
              <a:cs typeface="Times New Roman"/>
              <a:sym typeface="Times New Roman"/>
            </a:endParaRPr>
          </a:p>
        </p:txBody>
      </p:sp>
      <p:sp>
        <p:nvSpPr>
          <p:cNvPr id="89" name="Google Shape;89;p13"/>
          <p:cNvSpPr txBox="1">
            <a:spLocks noGrp="1"/>
          </p:cNvSpPr>
          <p:nvPr>
            <p:ph type="subTitle" idx="1"/>
          </p:nvPr>
        </p:nvSpPr>
        <p:spPr>
          <a:xfrm>
            <a:off x="611464" y="3228319"/>
            <a:ext cx="10677525" cy="184626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888888"/>
              </a:buClr>
              <a:buSzPts val="2000"/>
              <a:buNone/>
            </a:pPr>
            <a:r>
              <a:rPr lang="en-US" sz="2100" b="1">
                <a:latin typeface="Times New Roman"/>
                <a:ea typeface="Times New Roman"/>
                <a:cs typeface="Times New Roman"/>
                <a:sym typeface="Times New Roman"/>
              </a:rPr>
              <a:t>Batch No: </a:t>
            </a:r>
            <a:r>
              <a:rPr lang="en-US" sz="2100">
                <a:latin typeface="Times New Roman"/>
                <a:ea typeface="Times New Roman"/>
                <a:cs typeface="Times New Roman"/>
                <a:sym typeface="Times New Roman"/>
              </a:rPr>
              <a:t>02	</a:t>
            </a:r>
            <a:endParaRPr sz="2100">
              <a:latin typeface="Times New Roman"/>
              <a:ea typeface="Times New Roman"/>
              <a:cs typeface="Times New Roman"/>
              <a:sym typeface="Times New Roman"/>
            </a:endParaRPr>
          </a:p>
          <a:p>
            <a:pPr marL="0" lvl="0" indent="0" algn="l" rtl="0">
              <a:spcBef>
                <a:spcPts val="400"/>
              </a:spcBef>
              <a:spcAft>
                <a:spcPts val="0"/>
              </a:spcAft>
              <a:buClr>
                <a:srgbClr val="888888"/>
              </a:buClr>
              <a:buSzPts val="2000"/>
              <a:buNone/>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marL="457200" lvl="0" indent="-336550" algn="l" rtl="0">
              <a:spcBef>
                <a:spcPts val="400"/>
              </a:spcBef>
              <a:spcAft>
                <a:spcPts val="0"/>
              </a:spcAft>
              <a:buSzPts val="1700"/>
              <a:buFont typeface="Times New Roman"/>
              <a:buAutoNum type="arabicPeriod"/>
            </a:pPr>
            <a:r>
              <a:rPr lang="en-US" sz="1700">
                <a:latin typeface="Times New Roman"/>
                <a:ea typeface="Times New Roman"/>
                <a:cs typeface="Times New Roman"/>
                <a:sym typeface="Times New Roman"/>
              </a:rPr>
              <a:t>22071A6683 G.Dharaneesh</a:t>
            </a:r>
            <a:endParaRPr sz="1700">
              <a:latin typeface="Times New Roman"/>
              <a:ea typeface="Times New Roman"/>
              <a:cs typeface="Times New Roman"/>
              <a:sym typeface="Times New Roman"/>
            </a:endParaRPr>
          </a:p>
          <a:p>
            <a:pPr marL="457200" lvl="0" indent="-336550" algn="l" rtl="0">
              <a:spcBef>
                <a:spcPts val="0"/>
              </a:spcBef>
              <a:spcAft>
                <a:spcPts val="0"/>
              </a:spcAft>
              <a:buSzPts val="1700"/>
              <a:buFont typeface="Times New Roman"/>
              <a:buAutoNum type="arabicPeriod"/>
            </a:pPr>
            <a:r>
              <a:rPr lang="en-US" sz="1700">
                <a:latin typeface="Times New Roman"/>
                <a:ea typeface="Times New Roman"/>
                <a:cs typeface="Times New Roman"/>
                <a:sym typeface="Times New Roman"/>
              </a:rPr>
              <a:t>22071A6688  J.V.S Chandraditya </a:t>
            </a:r>
            <a:endParaRPr sz="1700">
              <a:latin typeface="Times New Roman"/>
              <a:ea typeface="Times New Roman"/>
              <a:cs typeface="Times New Roman"/>
              <a:sym typeface="Times New Roman"/>
            </a:endParaRPr>
          </a:p>
          <a:p>
            <a:pPr marL="457200" lvl="0" indent="-336550" algn="l" rtl="0">
              <a:spcBef>
                <a:spcPts val="0"/>
              </a:spcBef>
              <a:spcAft>
                <a:spcPts val="0"/>
              </a:spcAft>
              <a:buSzPts val="1700"/>
              <a:buFont typeface="Times New Roman"/>
              <a:buAutoNum type="arabicPeriod"/>
            </a:pPr>
            <a:r>
              <a:rPr lang="en-US" sz="1700">
                <a:latin typeface="Times New Roman"/>
                <a:ea typeface="Times New Roman"/>
                <a:cs typeface="Times New Roman"/>
                <a:sym typeface="Times New Roman"/>
              </a:rPr>
              <a:t>22071A66C1 Siddharth Verma </a:t>
            </a:r>
            <a:endParaRPr sz="2900" b="1">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AutoNum type="arabicPeriod"/>
            </a:pPr>
            <a:r>
              <a:rPr lang="en-US" sz="1700">
                <a:latin typeface="Times New Roman"/>
                <a:ea typeface="Times New Roman"/>
                <a:cs typeface="Times New Roman"/>
                <a:sym typeface="Times New Roman"/>
              </a:rPr>
              <a:t>22071A66D3 Anurag Sahu   </a:t>
            </a:r>
            <a:r>
              <a:rPr lang="en-US" sz="1600">
                <a:latin typeface="Times New Roman"/>
                <a:ea typeface="Times New Roman"/>
                <a:cs typeface="Times New Roman"/>
                <a:sym typeface="Times New Roman"/>
              </a:rPr>
              <a:t> </a:t>
            </a:r>
            <a:endParaRPr sz="2800" b="1">
              <a:latin typeface="Times New Roman"/>
              <a:ea typeface="Times New Roman"/>
              <a:cs typeface="Times New Roman"/>
              <a:sym typeface="Times New Roman"/>
            </a:endParaRPr>
          </a:p>
        </p:txBody>
      </p:sp>
      <p:sp>
        <p:nvSpPr>
          <p:cNvPr id="90" name="Google Shape;90;p13"/>
          <p:cNvSpPr txBox="1">
            <a:spLocks noGrp="1"/>
          </p:cNvSpPr>
          <p:nvPr>
            <p:ph type="ftr" idx="11"/>
          </p:nvPr>
        </p:nvSpPr>
        <p:spPr>
          <a:xfrm>
            <a:off x="457201" y="6356357"/>
            <a:ext cx="11249024" cy="31114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Dept. of CSE- AIML &amp; IOT                                                                                                                                                                                                                                                                                           VNR VJIET</a:t>
            </a:r>
            <a:endParaRPr>
              <a:latin typeface="Times New Roman"/>
              <a:ea typeface="Times New Roman"/>
              <a:cs typeface="Times New Roman"/>
              <a:sym typeface="Times New Roman"/>
            </a:endParaRPr>
          </a:p>
        </p:txBody>
      </p:sp>
      <p:sp>
        <p:nvSpPr>
          <p:cNvPr id="91" name="Google Shape;91;p13"/>
          <p:cNvSpPr txBox="1"/>
          <p:nvPr/>
        </p:nvSpPr>
        <p:spPr>
          <a:xfrm>
            <a:off x="8121719" y="3228319"/>
            <a:ext cx="3167400" cy="132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7F7F7F"/>
                </a:solidFill>
                <a:latin typeface="Times New Roman"/>
                <a:ea typeface="Times New Roman"/>
                <a:cs typeface="Times New Roman"/>
                <a:sym typeface="Times New Roman"/>
              </a:rPr>
              <a:t>K. Kishan Babu </a:t>
            </a:r>
            <a:endParaRPr sz="20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a:solidFill>
                  <a:srgbClr val="7F7F7F"/>
                </a:solidFill>
                <a:latin typeface="Times New Roman"/>
                <a:ea typeface="Times New Roman"/>
                <a:cs typeface="Times New Roman"/>
                <a:sym typeface="Times New Roman"/>
              </a:rPr>
              <a:t>Assistant Professor</a:t>
            </a:r>
            <a:endParaRPr sz="20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a:solidFill>
                  <a:srgbClr val="7F7F7F"/>
                </a:solidFill>
                <a:latin typeface="Times New Roman"/>
                <a:ea typeface="Times New Roman"/>
                <a:cs typeface="Times New Roman"/>
                <a:sym typeface="Times New Roman"/>
              </a:rPr>
              <a:t>Dept. of CSE(AIML &amp; IoT)</a:t>
            </a:r>
            <a:endParaRPr sz="20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2000">
              <a:solidFill>
                <a:srgbClr val="7F7F7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Abstract </a:t>
            </a:r>
            <a:endParaRPr sz="4000">
              <a:latin typeface="Times New Roman"/>
              <a:ea typeface="Times New Roman"/>
              <a:cs typeface="Times New Roman"/>
              <a:sym typeface="Times New Roman"/>
            </a:endParaRPr>
          </a:p>
        </p:txBody>
      </p:sp>
      <p:sp>
        <p:nvSpPr>
          <p:cNvPr id="97" name="Google Shape;97;p14"/>
          <p:cNvSpPr txBox="1">
            <a:spLocks noGrp="1"/>
          </p:cNvSpPr>
          <p:nvPr>
            <p:ph type="body" idx="1"/>
          </p:nvPr>
        </p:nvSpPr>
        <p:spPr>
          <a:xfrm>
            <a:off x="609600" y="1417656"/>
            <a:ext cx="10972800" cy="4526100"/>
          </a:xfrm>
          <a:prstGeom prst="rect">
            <a:avLst/>
          </a:prstGeom>
          <a:noFill/>
          <a:ln>
            <a:noFill/>
          </a:ln>
        </p:spPr>
        <p:txBody>
          <a:bodyPr spcFirstLastPara="1" wrap="square" lIns="91425" tIns="45700" rIns="91425" bIns="45700" anchor="t" anchorCtr="0">
            <a:normAutofit fontScale="85000" lnSpcReduction="10000"/>
          </a:bodyPr>
          <a:lstStyle/>
          <a:p>
            <a:pPr marL="215900" marR="381000" lvl="0" indent="0" algn="just" rtl="0">
              <a:lnSpc>
                <a:spcPct val="115000"/>
              </a:lnSpc>
              <a:spcBef>
                <a:spcPts val="0"/>
              </a:spcBef>
              <a:spcAft>
                <a:spcPts val="0"/>
              </a:spcAft>
              <a:buClr>
                <a:schemeClr val="dk1"/>
              </a:buClr>
              <a:buSzPct val="42968"/>
              <a:buFont typeface="Arial"/>
              <a:buNone/>
            </a:pPr>
            <a:r>
              <a:rPr lang="en-US" sz="2560">
                <a:latin typeface="Times New Roman"/>
                <a:ea typeface="Times New Roman"/>
                <a:cs typeface="Times New Roman"/>
                <a:sym typeface="Times New Roman"/>
              </a:rPr>
              <a:t>In recent times there has been an advancement in technologies such as autonomous vehicles, robotics and etc, where the need to perceive the environment becomes of paramount importance. The typical 2D vision models fail to provide the depth and spatial awareness needed for such applications. As a result there has been a rise in the usage of LiDAR data to get a 3D view of the scene.</a:t>
            </a:r>
            <a:endParaRPr sz="2560">
              <a:latin typeface="Times New Roman"/>
              <a:ea typeface="Times New Roman"/>
              <a:cs typeface="Times New Roman"/>
              <a:sym typeface="Times New Roman"/>
            </a:endParaRPr>
          </a:p>
          <a:p>
            <a:pPr marL="215900" marR="381000" lvl="0" indent="0" algn="just" rtl="0">
              <a:lnSpc>
                <a:spcPct val="115000"/>
              </a:lnSpc>
              <a:spcBef>
                <a:spcPts val="0"/>
              </a:spcBef>
              <a:spcAft>
                <a:spcPts val="0"/>
              </a:spcAft>
              <a:buClr>
                <a:schemeClr val="dk1"/>
              </a:buClr>
              <a:buSzPct val="42968"/>
              <a:buFont typeface="Arial"/>
              <a:buNone/>
            </a:pPr>
            <a:r>
              <a:rPr lang="en-US" sz="2560">
                <a:latin typeface="Times New Roman"/>
                <a:ea typeface="Times New Roman"/>
                <a:cs typeface="Times New Roman"/>
                <a:sym typeface="Times New Roman"/>
              </a:rPr>
              <a:t> </a:t>
            </a:r>
            <a:endParaRPr sz="2560">
              <a:latin typeface="Times New Roman"/>
              <a:ea typeface="Times New Roman"/>
              <a:cs typeface="Times New Roman"/>
              <a:sym typeface="Times New Roman"/>
            </a:endParaRPr>
          </a:p>
          <a:p>
            <a:pPr marL="215900" marR="381000" lvl="0" indent="0" algn="just" rtl="0">
              <a:lnSpc>
                <a:spcPct val="115000"/>
              </a:lnSpc>
              <a:spcBef>
                <a:spcPts val="0"/>
              </a:spcBef>
              <a:spcAft>
                <a:spcPts val="0"/>
              </a:spcAft>
              <a:buClr>
                <a:schemeClr val="dk1"/>
              </a:buClr>
              <a:buSzPct val="42968"/>
              <a:buFont typeface="Arial"/>
              <a:buNone/>
            </a:pPr>
            <a:r>
              <a:rPr lang="en-US" sz="2560">
                <a:latin typeface="Times New Roman"/>
                <a:ea typeface="Times New Roman"/>
                <a:cs typeface="Times New Roman"/>
                <a:sym typeface="Times New Roman"/>
              </a:rPr>
              <a:t>In this project we implement a LiDAR based 3D object detection system using opensource tools. we used the KITTI dataset which comprises of labelled LiDAR point cloud data. we chose to implement a point pillar model for the computational efficiency it offers making it feasible to deploy in real-time scenarios. The pipeline consists of extracting the point clouds and reconstructing them into 2D pseudo images followed by convolution operations to extract features and real time inference to detect objects and classify them.</a:t>
            </a:r>
            <a:endParaRPr sz="256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ct val="115625"/>
              <a:buNone/>
            </a:pPr>
            <a:endParaRPr sz="2560">
              <a:latin typeface="Times New Roman"/>
              <a:ea typeface="Times New Roman"/>
              <a:cs typeface="Times New Roman"/>
              <a:sym typeface="Times New Roman"/>
            </a:endParaRPr>
          </a:p>
        </p:txBody>
      </p:sp>
      <p:sp>
        <p:nvSpPr>
          <p:cNvPr id="98" name="Google Shape;98;p14"/>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Introduction</a:t>
            </a:r>
            <a:endParaRPr sz="4000">
              <a:latin typeface="Times New Roman"/>
              <a:ea typeface="Times New Roman"/>
              <a:cs typeface="Times New Roman"/>
              <a:sym typeface="Times New Roman"/>
            </a:endParaRPr>
          </a:p>
        </p:txBody>
      </p:sp>
      <p:sp>
        <p:nvSpPr>
          <p:cNvPr id="104" name="Google Shape;104;p15"/>
          <p:cNvSpPr txBox="1">
            <a:spLocks noGrp="1"/>
          </p:cNvSpPr>
          <p:nvPr>
            <p:ph type="body" idx="1"/>
          </p:nvPr>
        </p:nvSpPr>
        <p:spPr>
          <a:xfrm>
            <a:off x="609600" y="1712481"/>
            <a:ext cx="10972800" cy="4526100"/>
          </a:xfrm>
          <a:prstGeom prst="rect">
            <a:avLst/>
          </a:prstGeom>
          <a:noFill/>
          <a:ln>
            <a:noFill/>
          </a:ln>
        </p:spPr>
        <p:txBody>
          <a:bodyPr spcFirstLastPara="1" wrap="square" lIns="91425" tIns="45700" rIns="91425" bIns="45700" anchor="t" anchorCtr="0">
            <a:normAutofit/>
          </a:bodyPr>
          <a:lstStyle/>
          <a:p>
            <a:pPr marL="0" lvl="0" indent="0" algn="just" rtl="0">
              <a:lnSpc>
                <a:spcPct val="80000"/>
              </a:lnSpc>
              <a:spcBef>
                <a:spcPts val="0"/>
              </a:spcBef>
              <a:spcAft>
                <a:spcPts val="0"/>
              </a:spcAft>
              <a:buClr>
                <a:schemeClr val="dk1"/>
              </a:buClr>
              <a:buSzPts val="1100"/>
              <a:buFont typeface="Arial"/>
              <a:buNone/>
            </a:pPr>
            <a:r>
              <a:rPr lang="en-US" sz="2150" b="1" dirty="0">
                <a:latin typeface="Times New Roman"/>
                <a:ea typeface="Times New Roman"/>
                <a:cs typeface="Times New Roman"/>
                <a:sym typeface="Times New Roman"/>
              </a:rPr>
              <a:t>Purpose</a:t>
            </a:r>
            <a:r>
              <a:rPr lang="en-US" sz="2150" dirty="0">
                <a:latin typeface="Times New Roman"/>
                <a:ea typeface="Times New Roman"/>
                <a:cs typeface="Times New Roman"/>
                <a:sym typeface="Times New Roman"/>
              </a:rPr>
              <a:t>: Build a robust, lightweight, real-time object detection system from 3D LiDAR data.</a:t>
            </a:r>
            <a:br>
              <a:rPr lang="en-US" sz="2150" dirty="0">
                <a:latin typeface="Times New Roman"/>
                <a:ea typeface="Times New Roman"/>
                <a:cs typeface="Times New Roman"/>
                <a:sym typeface="Times New Roman"/>
              </a:rPr>
            </a:b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1100"/>
              <a:buFont typeface="Arial"/>
              <a:buNone/>
            </a:pPr>
            <a:r>
              <a:rPr lang="en-US" sz="2150" b="1" dirty="0">
                <a:latin typeface="Times New Roman"/>
                <a:ea typeface="Times New Roman"/>
                <a:cs typeface="Times New Roman"/>
                <a:sym typeface="Times New Roman"/>
              </a:rPr>
              <a:t>Existing Methods</a:t>
            </a:r>
            <a:r>
              <a:rPr lang="en-US" sz="2150" dirty="0">
                <a:latin typeface="Times New Roman"/>
                <a:ea typeface="Times New Roman"/>
                <a:cs typeface="Times New Roman"/>
                <a:sym typeface="Times New Roman"/>
              </a:rPr>
              <a:t>: Point-based, voxel-based, BEV, and fusion methods—all with tradeoffs in accuracy, speed, and complexity.</a:t>
            </a:r>
            <a:br>
              <a:rPr lang="en-US" sz="2150" dirty="0">
                <a:latin typeface="Times New Roman"/>
                <a:ea typeface="Times New Roman"/>
                <a:cs typeface="Times New Roman"/>
                <a:sym typeface="Times New Roman"/>
              </a:rPr>
            </a:b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1100"/>
              <a:buNone/>
            </a:pPr>
            <a:r>
              <a:rPr lang="en-US" sz="2150" b="1" dirty="0">
                <a:latin typeface="Times New Roman"/>
                <a:ea typeface="Times New Roman"/>
                <a:cs typeface="Times New Roman"/>
                <a:sym typeface="Times New Roman"/>
              </a:rPr>
              <a:t>Proposed Approach</a:t>
            </a:r>
            <a:r>
              <a:rPr lang="en-US" sz="2150" dirty="0">
                <a:latin typeface="Times New Roman"/>
                <a:ea typeface="Times New Roman"/>
                <a:cs typeface="Times New Roman"/>
                <a:sym typeface="Times New Roman"/>
              </a:rPr>
              <a:t>: Efficient </a:t>
            </a:r>
            <a:r>
              <a:rPr lang="en-US" sz="2150" dirty="0" err="1">
                <a:latin typeface="Times New Roman"/>
                <a:ea typeface="Times New Roman"/>
                <a:cs typeface="Times New Roman"/>
                <a:sym typeface="Times New Roman"/>
              </a:rPr>
              <a:t>PointPillars</a:t>
            </a:r>
            <a:r>
              <a:rPr lang="en-US" sz="2150" dirty="0">
                <a:latin typeface="Times New Roman"/>
                <a:ea typeface="Times New Roman"/>
                <a:cs typeface="Times New Roman"/>
                <a:sym typeface="Times New Roman"/>
              </a:rPr>
              <a:t> model converting 3D data to 2D pseudo-images for quick CNN processing.</a:t>
            </a: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1100"/>
              <a:buNone/>
            </a:pP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1100"/>
              <a:buNone/>
            </a:pPr>
            <a:r>
              <a:rPr lang="en-US" sz="2150" dirty="0">
                <a:latin typeface="Times New Roman"/>
                <a:ea typeface="Times New Roman"/>
                <a:cs typeface="Times New Roman"/>
                <a:sym typeface="Times New Roman"/>
              </a:rPr>
              <a:t>The model supports deployment on edge devices and handles varied environments effectively.</a:t>
            </a: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1100"/>
              <a:buFont typeface="Arial"/>
              <a:buNone/>
            </a:pP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2960"/>
              <a:buNone/>
            </a:pPr>
            <a:endParaRPr sz="2150" dirty="0">
              <a:latin typeface="Times New Roman"/>
              <a:ea typeface="Times New Roman"/>
              <a:cs typeface="Times New Roman"/>
              <a:sym typeface="Times New Roman"/>
            </a:endParaRPr>
          </a:p>
        </p:txBody>
      </p:sp>
      <p:sp>
        <p:nvSpPr>
          <p:cNvPr id="105" name="Google Shape;105;p15"/>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Tools &amp; Technologies Used</a:t>
            </a:r>
            <a:endParaRPr sz="4000">
              <a:latin typeface="Times New Roman"/>
              <a:ea typeface="Times New Roman"/>
              <a:cs typeface="Times New Roman"/>
              <a:sym typeface="Times New Roman"/>
            </a:endParaRPr>
          </a:p>
        </p:txBody>
      </p:sp>
      <p:sp>
        <p:nvSpPr>
          <p:cNvPr id="111" name="Google Shape;111;p16"/>
          <p:cNvSpPr txBox="1">
            <a:spLocks noGrp="1"/>
          </p:cNvSpPr>
          <p:nvPr>
            <p:ph type="body" idx="1"/>
          </p:nvPr>
        </p:nvSpPr>
        <p:spPr>
          <a:xfrm>
            <a:off x="609600" y="1712481"/>
            <a:ext cx="10972800" cy="4526100"/>
          </a:xfrm>
          <a:prstGeom prst="rect">
            <a:avLst/>
          </a:prstGeom>
          <a:noFill/>
          <a:ln>
            <a:noFill/>
          </a:ln>
        </p:spPr>
        <p:txBody>
          <a:bodyPr spcFirstLastPara="1" wrap="square" lIns="91425" tIns="45700" rIns="91425" bIns="45700" anchor="t" anchorCtr="0">
            <a:normAutofit/>
          </a:bodyPr>
          <a:lstStyle/>
          <a:p>
            <a:pPr marL="0" lvl="0" indent="0" algn="just" rtl="0">
              <a:lnSpc>
                <a:spcPct val="80000"/>
              </a:lnSpc>
              <a:spcBef>
                <a:spcPts val="0"/>
              </a:spcBef>
              <a:spcAft>
                <a:spcPts val="0"/>
              </a:spcAft>
              <a:buClr>
                <a:schemeClr val="dk1"/>
              </a:buClr>
              <a:buSzPts val="1100"/>
              <a:buFont typeface="Arial"/>
              <a:buNone/>
            </a:pPr>
            <a:r>
              <a:rPr lang="en-US" sz="2150" b="1" dirty="0">
                <a:latin typeface="Times New Roman"/>
                <a:ea typeface="Times New Roman"/>
                <a:cs typeface="Times New Roman"/>
                <a:sym typeface="Times New Roman"/>
              </a:rPr>
              <a:t>Programming &amp; Frameworks</a:t>
            </a:r>
            <a:r>
              <a:rPr lang="en-US" sz="2150" dirty="0">
                <a:latin typeface="Times New Roman"/>
                <a:ea typeface="Times New Roman"/>
                <a:cs typeface="Times New Roman"/>
                <a:sym typeface="Times New Roman"/>
              </a:rPr>
              <a:t>: Python, </a:t>
            </a:r>
            <a:r>
              <a:rPr lang="en-US" sz="2150" dirty="0" err="1">
                <a:latin typeface="Times New Roman"/>
                <a:ea typeface="Times New Roman"/>
                <a:cs typeface="Times New Roman"/>
                <a:sym typeface="Times New Roman"/>
              </a:rPr>
              <a:t>PyTorch</a:t>
            </a:r>
            <a:r>
              <a:rPr lang="en-US" sz="2150" dirty="0">
                <a:latin typeface="Times New Roman"/>
                <a:ea typeface="Times New Roman"/>
                <a:cs typeface="Times New Roman"/>
                <a:sym typeface="Times New Roman"/>
              </a:rPr>
              <a:t>, TensorFlow, </a:t>
            </a:r>
            <a:r>
              <a:rPr lang="en-US" sz="2150" dirty="0" err="1">
                <a:latin typeface="Times New Roman"/>
                <a:ea typeface="Times New Roman"/>
                <a:cs typeface="Times New Roman"/>
                <a:sym typeface="Times New Roman"/>
              </a:rPr>
              <a:t>Keras</a:t>
            </a:r>
            <a:r>
              <a:rPr lang="en-US" sz="2150" dirty="0">
                <a:latin typeface="Times New Roman"/>
                <a:ea typeface="Times New Roman"/>
                <a:cs typeface="Times New Roman"/>
                <a:sym typeface="Times New Roman"/>
              </a:rPr>
              <a:t>, OpenCV</a:t>
            </a:r>
            <a:br>
              <a:rPr lang="en-US" sz="2150" dirty="0">
                <a:latin typeface="Times New Roman"/>
                <a:ea typeface="Times New Roman"/>
                <a:cs typeface="Times New Roman"/>
                <a:sym typeface="Times New Roman"/>
              </a:rPr>
            </a:b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1100"/>
              <a:buFont typeface="Arial"/>
              <a:buNone/>
            </a:pPr>
            <a:r>
              <a:rPr lang="en-US" sz="2150" b="1" dirty="0">
                <a:latin typeface="Times New Roman"/>
                <a:ea typeface="Times New Roman"/>
                <a:cs typeface="Times New Roman"/>
                <a:sym typeface="Times New Roman"/>
              </a:rPr>
              <a:t>Development Platforms</a:t>
            </a:r>
            <a:r>
              <a:rPr lang="en-US" sz="2150" dirty="0">
                <a:latin typeface="Times New Roman"/>
                <a:ea typeface="Times New Roman"/>
                <a:cs typeface="Times New Roman"/>
                <a:sym typeface="Times New Roman"/>
              </a:rPr>
              <a:t>: Google </a:t>
            </a:r>
            <a:r>
              <a:rPr lang="en-US" sz="2150" dirty="0" err="1">
                <a:latin typeface="Times New Roman"/>
                <a:ea typeface="Times New Roman"/>
                <a:cs typeface="Times New Roman"/>
                <a:sym typeface="Times New Roman"/>
              </a:rPr>
              <a:t>Colab</a:t>
            </a:r>
            <a:r>
              <a:rPr lang="en-US" sz="2150" dirty="0">
                <a:latin typeface="Times New Roman"/>
                <a:ea typeface="Times New Roman"/>
                <a:cs typeface="Times New Roman"/>
                <a:sym typeface="Times New Roman"/>
              </a:rPr>
              <a:t> for model training; </a:t>
            </a:r>
            <a:r>
              <a:rPr lang="en-US" sz="2150" dirty="0" err="1">
                <a:latin typeface="Times New Roman"/>
                <a:ea typeface="Times New Roman"/>
                <a:cs typeface="Times New Roman"/>
                <a:sym typeface="Times New Roman"/>
              </a:rPr>
              <a:t>Roboflow</a:t>
            </a:r>
            <a:r>
              <a:rPr lang="en-US" sz="2150" dirty="0">
                <a:latin typeface="Times New Roman"/>
                <a:ea typeface="Times New Roman"/>
                <a:cs typeface="Times New Roman"/>
                <a:sym typeface="Times New Roman"/>
              </a:rPr>
              <a:t> for dataset annotation and augmentation</a:t>
            </a:r>
          </a:p>
          <a:p>
            <a:pPr marL="0" lvl="0" indent="0" algn="just" rtl="0">
              <a:lnSpc>
                <a:spcPct val="80000"/>
              </a:lnSpc>
              <a:spcBef>
                <a:spcPts val="0"/>
              </a:spcBef>
              <a:spcAft>
                <a:spcPts val="0"/>
              </a:spcAft>
              <a:buClr>
                <a:schemeClr val="dk1"/>
              </a:buClr>
              <a:buSzPts val="1100"/>
              <a:buFont typeface="Arial"/>
              <a:buNone/>
            </a:pPr>
            <a:endParaRPr lang="en-US" sz="2150" dirty="0">
              <a:latin typeface="Times New Roman"/>
              <a:ea typeface="Times New Roman"/>
              <a:cs typeface="Times New Roman"/>
              <a:sym typeface="Times New Roman"/>
            </a:endParaRPr>
          </a:p>
          <a:p>
            <a:pPr marL="0" lvl="0" indent="0" rtl="0">
              <a:lnSpc>
                <a:spcPct val="80000"/>
              </a:lnSpc>
              <a:spcBef>
                <a:spcPts val="0"/>
              </a:spcBef>
              <a:spcAft>
                <a:spcPts val="0"/>
              </a:spcAft>
              <a:buClr>
                <a:schemeClr val="dk1"/>
              </a:buClr>
              <a:buSzPts val="1100"/>
              <a:buFont typeface="Arial"/>
              <a:buNone/>
            </a:pPr>
            <a:r>
              <a:rPr lang="en-US" sz="2150" b="1" dirty="0">
                <a:latin typeface="Times New Roman"/>
                <a:ea typeface="Times New Roman"/>
                <a:cs typeface="Times New Roman"/>
                <a:sym typeface="Times New Roman"/>
              </a:rPr>
              <a:t>Hardware</a:t>
            </a:r>
            <a:r>
              <a:rPr lang="en-US" sz="2150" dirty="0">
                <a:latin typeface="Times New Roman"/>
                <a:ea typeface="Times New Roman"/>
                <a:cs typeface="Times New Roman"/>
                <a:sym typeface="Times New Roman"/>
              </a:rPr>
              <a:t>:</a:t>
            </a:r>
            <a:endParaRPr sz="2150" dirty="0">
              <a:latin typeface="Times New Roman"/>
              <a:ea typeface="Times New Roman"/>
              <a:cs typeface="Times New Roman"/>
              <a:sym typeface="Times New Roman"/>
            </a:endParaRPr>
          </a:p>
          <a:p>
            <a:pPr marL="457200" lvl="0" indent="-365125" algn="l" rtl="0">
              <a:lnSpc>
                <a:spcPct val="115000"/>
              </a:lnSpc>
              <a:spcBef>
                <a:spcPts val="1200"/>
              </a:spcBef>
              <a:spcAft>
                <a:spcPts val="0"/>
              </a:spcAft>
              <a:buSzPts val="2150"/>
              <a:buChar char="●"/>
            </a:pPr>
            <a:r>
              <a:rPr lang="en-US" sz="2150" b="1" dirty="0">
                <a:latin typeface="Times New Roman"/>
                <a:ea typeface="Times New Roman"/>
                <a:cs typeface="Times New Roman"/>
                <a:sym typeface="Times New Roman"/>
              </a:rPr>
              <a:t>LiDAR</a:t>
            </a:r>
            <a:r>
              <a:rPr lang="en-US" sz="2150" dirty="0">
                <a:latin typeface="Times New Roman"/>
                <a:ea typeface="Times New Roman"/>
                <a:cs typeface="Times New Roman"/>
                <a:sym typeface="Times New Roman"/>
              </a:rPr>
              <a:t>: Intel RealSense L515</a:t>
            </a:r>
            <a:br>
              <a:rPr lang="en-US" sz="2150" dirty="0">
                <a:latin typeface="Times New Roman"/>
                <a:ea typeface="Times New Roman"/>
                <a:cs typeface="Times New Roman"/>
                <a:sym typeface="Times New Roman"/>
              </a:rPr>
            </a:br>
            <a:endParaRPr sz="2150"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150" b="1" dirty="0">
                <a:latin typeface="Times New Roman"/>
                <a:ea typeface="Times New Roman"/>
                <a:cs typeface="Times New Roman"/>
                <a:sym typeface="Times New Roman"/>
              </a:rPr>
              <a:t>Supporting Tools</a:t>
            </a:r>
            <a:r>
              <a:rPr lang="en-US" sz="2150" dirty="0">
                <a:latin typeface="Times New Roman"/>
                <a:ea typeface="Times New Roman"/>
                <a:cs typeface="Times New Roman"/>
                <a:sym typeface="Times New Roman"/>
              </a:rPr>
              <a:t>: CUDA (for GPU acceleration), </a:t>
            </a:r>
            <a:r>
              <a:rPr lang="en-US" sz="2150" dirty="0" err="1">
                <a:latin typeface="Times New Roman"/>
                <a:ea typeface="Times New Roman"/>
                <a:cs typeface="Times New Roman"/>
                <a:sym typeface="Times New Roman"/>
              </a:rPr>
              <a:t>PyRealSense</a:t>
            </a:r>
            <a:r>
              <a:rPr lang="en-US" sz="2150" dirty="0">
                <a:latin typeface="Times New Roman"/>
                <a:ea typeface="Times New Roman"/>
                <a:cs typeface="Times New Roman"/>
                <a:sym typeface="Times New Roman"/>
              </a:rPr>
              <a:t> (for sensor access), NumPy (for numerical ops), OpenCV(for sensor control)</a:t>
            </a:r>
            <a:endParaRPr sz="2150" dirty="0">
              <a:latin typeface="Times New Roman"/>
              <a:ea typeface="Times New Roman"/>
              <a:cs typeface="Times New Roman"/>
              <a:sym typeface="Times New Roman"/>
            </a:endParaRPr>
          </a:p>
          <a:p>
            <a:pPr marL="0" lvl="0" indent="0" algn="just" rtl="0">
              <a:lnSpc>
                <a:spcPct val="80000"/>
              </a:lnSpc>
              <a:spcBef>
                <a:spcPts val="0"/>
              </a:spcBef>
              <a:spcAft>
                <a:spcPts val="0"/>
              </a:spcAft>
              <a:buClr>
                <a:schemeClr val="dk1"/>
              </a:buClr>
              <a:buSzPts val="2960"/>
              <a:buNone/>
            </a:pPr>
            <a:endParaRPr sz="2150" b="1" dirty="0">
              <a:latin typeface="Times New Roman"/>
              <a:ea typeface="Times New Roman"/>
              <a:cs typeface="Times New Roman"/>
              <a:sym typeface="Times New Roman"/>
            </a:endParaRPr>
          </a:p>
        </p:txBody>
      </p:sp>
      <p:sp>
        <p:nvSpPr>
          <p:cNvPr id="112" name="Google Shape;112;p16"/>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Literature Survey</a:t>
            </a:r>
            <a:endParaRPr lang="en-US" sz="4000" dirty="0">
              <a:latin typeface="Times New Roman"/>
              <a:ea typeface="Times New Roman"/>
              <a:cs typeface="Times New Roman"/>
              <a:sym typeface="Times New Roman"/>
            </a:endParaRPr>
          </a:p>
        </p:txBody>
      </p:sp>
      <p:sp>
        <p:nvSpPr>
          <p:cNvPr id="118" name="Google Shape;118;p17"/>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p>
        </p:txBody>
      </p:sp>
      <p:pic>
        <p:nvPicPr>
          <p:cNvPr id="119" name="Google Shape;119;p17"/>
          <p:cNvPicPr preferRelativeResize="0"/>
          <p:nvPr/>
        </p:nvPicPr>
        <p:blipFill>
          <a:blip r:embed="rId3">
            <a:alphaModFix/>
          </a:blip>
          <a:stretch>
            <a:fillRect/>
          </a:stretch>
        </p:blipFill>
        <p:spPr>
          <a:xfrm>
            <a:off x="460050" y="1112052"/>
            <a:ext cx="11474755" cy="5244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Summary of Literature Survey</a:t>
            </a:r>
            <a:endParaRPr sz="4000">
              <a:latin typeface="Times New Roman"/>
              <a:ea typeface="Times New Roman"/>
              <a:cs typeface="Times New Roman"/>
              <a:sym typeface="Times New Roman"/>
            </a:endParaRPr>
          </a:p>
        </p:txBody>
      </p:sp>
      <p:sp>
        <p:nvSpPr>
          <p:cNvPr id="125" name="Google Shape;125;p18"/>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
        <p:nvSpPr>
          <p:cNvPr id="126" name="Google Shape;126;p18"/>
          <p:cNvSpPr txBox="1"/>
          <p:nvPr/>
        </p:nvSpPr>
        <p:spPr>
          <a:xfrm>
            <a:off x="707100" y="1810150"/>
            <a:ext cx="10777800" cy="3494100"/>
          </a:xfrm>
          <a:prstGeom prst="rect">
            <a:avLst/>
          </a:prstGeom>
          <a:noFill/>
          <a:ln>
            <a:noFill/>
          </a:ln>
        </p:spPr>
        <p:txBody>
          <a:bodyPr spcFirstLastPara="1" wrap="square" lIns="91425" tIns="91425" rIns="91425" bIns="91425" anchor="t" anchorCtr="0">
            <a:spAutoFit/>
          </a:bodyPr>
          <a:lstStyle/>
          <a:p>
            <a:pPr marL="457200" lvl="0" indent="-365125" algn="l" rtl="0">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No single method performs best across all datasets (KITTI, Waymo, nuScenes).</a:t>
            </a:r>
            <a:br>
              <a:rPr lang="en-US" sz="2150">
                <a:solidFill>
                  <a:schemeClr val="dk1"/>
                </a:solidFill>
                <a:latin typeface="Times New Roman"/>
                <a:ea typeface="Times New Roman"/>
                <a:cs typeface="Times New Roman"/>
                <a:sym typeface="Times New Roman"/>
              </a:rPr>
            </a:br>
            <a:endParaRPr sz="2150">
              <a:solidFill>
                <a:schemeClr val="dk1"/>
              </a:solidFill>
              <a:latin typeface="Times New Roman"/>
              <a:ea typeface="Times New Roman"/>
              <a:cs typeface="Times New Roman"/>
              <a:sym typeface="Times New Roman"/>
            </a:endParaRPr>
          </a:p>
          <a:p>
            <a:pPr marL="457200" lvl="0" indent="-365125" algn="l" rtl="0">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Fusion methods (BEVFusion, MSMDFusion) are more resilient in weather-affected or occluded environments.</a:t>
            </a:r>
            <a:br>
              <a:rPr lang="en-US" sz="2150">
                <a:solidFill>
                  <a:schemeClr val="dk1"/>
                </a:solidFill>
                <a:latin typeface="Times New Roman"/>
                <a:ea typeface="Times New Roman"/>
                <a:cs typeface="Times New Roman"/>
                <a:sym typeface="Times New Roman"/>
              </a:rPr>
            </a:br>
            <a:endParaRPr sz="2150">
              <a:solidFill>
                <a:schemeClr val="dk1"/>
              </a:solidFill>
              <a:latin typeface="Times New Roman"/>
              <a:ea typeface="Times New Roman"/>
              <a:cs typeface="Times New Roman"/>
              <a:sym typeface="Times New Roman"/>
            </a:endParaRPr>
          </a:p>
          <a:p>
            <a:pPr marL="457200" lvl="0" indent="-365125" algn="l" rtl="0">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PointPillars chosen for its balance between </a:t>
            </a:r>
            <a:r>
              <a:rPr lang="en-US" sz="2150" b="1">
                <a:solidFill>
                  <a:schemeClr val="dk1"/>
                </a:solidFill>
                <a:latin typeface="Times New Roman"/>
                <a:ea typeface="Times New Roman"/>
                <a:cs typeface="Times New Roman"/>
                <a:sym typeface="Times New Roman"/>
              </a:rPr>
              <a:t>speed</a:t>
            </a:r>
            <a:r>
              <a:rPr lang="en-US" sz="2150">
                <a:solidFill>
                  <a:schemeClr val="dk1"/>
                </a:solidFill>
                <a:latin typeface="Times New Roman"/>
                <a:ea typeface="Times New Roman"/>
                <a:cs typeface="Times New Roman"/>
                <a:sym typeface="Times New Roman"/>
              </a:rPr>
              <a:t>, </a:t>
            </a:r>
            <a:r>
              <a:rPr lang="en-US" sz="2150" b="1">
                <a:solidFill>
                  <a:schemeClr val="dk1"/>
                </a:solidFill>
                <a:latin typeface="Times New Roman"/>
                <a:ea typeface="Times New Roman"/>
                <a:cs typeface="Times New Roman"/>
                <a:sym typeface="Times New Roman"/>
              </a:rPr>
              <a:t>simplicity</a:t>
            </a:r>
            <a:r>
              <a:rPr lang="en-US" sz="2150">
                <a:solidFill>
                  <a:schemeClr val="dk1"/>
                </a:solidFill>
                <a:latin typeface="Times New Roman"/>
                <a:ea typeface="Times New Roman"/>
                <a:cs typeface="Times New Roman"/>
                <a:sym typeface="Times New Roman"/>
              </a:rPr>
              <a:t>, and </a:t>
            </a:r>
            <a:r>
              <a:rPr lang="en-US" sz="2150" b="1">
                <a:solidFill>
                  <a:schemeClr val="dk1"/>
                </a:solidFill>
                <a:latin typeface="Times New Roman"/>
                <a:ea typeface="Times New Roman"/>
                <a:cs typeface="Times New Roman"/>
                <a:sym typeface="Times New Roman"/>
              </a:rPr>
              <a:t>real-time capabilities</a:t>
            </a:r>
            <a:r>
              <a:rPr lang="en-US" sz="2150">
                <a:solidFill>
                  <a:schemeClr val="dk1"/>
                </a:solidFill>
                <a:latin typeface="Times New Roman"/>
                <a:ea typeface="Times New Roman"/>
                <a:cs typeface="Times New Roman"/>
                <a:sym typeface="Times New Roman"/>
              </a:rPr>
              <a:t> without heavy computational cost.</a:t>
            </a:r>
            <a:br>
              <a:rPr lang="en-US" sz="2150">
                <a:solidFill>
                  <a:schemeClr val="dk1"/>
                </a:solidFill>
                <a:latin typeface="Times New Roman"/>
                <a:ea typeface="Times New Roman"/>
                <a:cs typeface="Times New Roman"/>
                <a:sym typeface="Times New Roman"/>
              </a:rPr>
            </a:br>
            <a:endParaRPr sz="2150">
              <a:solidFill>
                <a:schemeClr val="dk1"/>
              </a:solidFill>
              <a:latin typeface="Times New Roman"/>
              <a:ea typeface="Times New Roman"/>
              <a:cs typeface="Times New Roman"/>
              <a:sym typeface="Times New Roman"/>
            </a:endParaRPr>
          </a:p>
          <a:p>
            <a:pPr marL="457200" lvl="0" indent="-365125" algn="l" rtl="0">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Key insights: Domain adaptation, sensor fusion, and efficient feature extraction are essential for reliable 3D detection.</a:t>
            </a:r>
            <a:endParaRPr sz="215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title"/>
          </p:nvPr>
        </p:nvSpPr>
        <p:spPr>
          <a:xfrm>
            <a:off x="609600" y="-58637"/>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Design</a:t>
            </a:r>
            <a:endParaRPr sz="4000">
              <a:latin typeface="Times New Roman"/>
              <a:ea typeface="Times New Roman"/>
              <a:cs typeface="Times New Roman"/>
              <a:sym typeface="Times New Roman"/>
            </a:endParaRPr>
          </a:p>
        </p:txBody>
      </p:sp>
      <p:sp>
        <p:nvSpPr>
          <p:cNvPr id="132" name="Google Shape;132;p19"/>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pic>
        <p:nvPicPr>
          <p:cNvPr id="133" name="Google Shape;133;p19"/>
          <p:cNvPicPr preferRelativeResize="0"/>
          <p:nvPr/>
        </p:nvPicPr>
        <p:blipFill>
          <a:blip r:embed="rId3">
            <a:alphaModFix/>
          </a:blip>
          <a:stretch>
            <a:fillRect/>
          </a:stretch>
        </p:blipFill>
        <p:spPr>
          <a:xfrm>
            <a:off x="1401475" y="1326500"/>
            <a:ext cx="9388950" cy="4939925"/>
          </a:xfrm>
          <a:prstGeom prst="rect">
            <a:avLst/>
          </a:prstGeom>
          <a:noFill/>
          <a:ln>
            <a:noFill/>
          </a:ln>
        </p:spPr>
      </p:pic>
      <p:sp>
        <p:nvSpPr>
          <p:cNvPr id="134" name="Google Shape;134;p19"/>
          <p:cNvSpPr txBox="1"/>
          <p:nvPr/>
        </p:nvSpPr>
        <p:spPr>
          <a:xfrm>
            <a:off x="247850" y="788900"/>
            <a:ext cx="3743100" cy="5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Times New Roman"/>
                <a:ea typeface="Times New Roman"/>
                <a:cs typeface="Times New Roman"/>
                <a:sym typeface="Times New Roman"/>
              </a:rPr>
              <a:t>System Architecture</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txBox="1">
            <a:spLocks noGrp="1"/>
          </p:cNvSpPr>
          <p:nvPr>
            <p:ph type="title"/>
          </p:nvPr>
        </p:nvSpPr>
        <p:spPr>
          <a:xfrm>
            <a:off x="609600" y="-58637"/>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Design</a:t>
            </a:r>
            <a:endParaRPr sz="4000">
              <a:latin typeface="Times New Roman"/>
              <a:ea typeface="Times New Roman"/>
              <a:cs typeface="Times New Roman"/>
              <a:sym typeface="Times New Roman"/>
            </a:endParaRPr>
          </a:p>
        </p:txBody>
      </p:sp>
      <p:sp>
        <p:nvSpPr>
          <p:cNvPr id="140" name="Google Shape;140;p20"/>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
        <p:nvSpPr>
          <p:cNvPr id="141" name="Google Shape;141;p20"/>
          <p:cNvSpPr txBox="1"/>
          <p:nvPr/>
        </p:nvSpPr>
        <p:spPr>
          <a:xfrm>
            <a:off x="247850" y="788900"/>
            <a:ext cx="3743100" cy="5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Times New Roman"/>
                <a:ea typeface="Times New Roman"/>
                <a:cs typeface="Times New Roman"/>
                <a:sym typeface="Times New Roman"/>
              </a:rPr>
              <a:t>Class Diagram</a:t>
            </a:r>
            <a:endParaRPr sz="2100">
              <a:solidFill>
                <a:schemeClr val="dk1"/>
              </a:solidFill>
              <a:latin typeface="Times New Roman"/>
              <a:ea typeface="Times New Roman"/>
              <a:cs typeface="Times New Roman"/>
              <a:sym typeface="Times New Roman"/>
            </a:endParaRPr>
          </a:p>
        </p:txBody>
      </p:sp>
      <p:pic>
        <p:nvPicPr>
          <p:cNvPr id="142" name="Google Shape;142;p20"/>
          <p:cNvPicPr preferRelativeResize="0"/>
          <p:nvPr/>
        </p:nvPicPr>
        <p:blipFill>
          <a:blip r:embed="rId3">
            <a:alphaModFix/>
          </a:blip>
          <a:stretch>
            <a:fillRect/>
          </a:stretch>
        </p:blipFill>
        <p:spPr>
          <a:xfrm>
            <a:off x="3239600" y="880225"/>
            <a:ext cx="5712800" cy="5397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1"/>
          <p:cNvSpPr txBox="1">
            <a:spLocks noGrp="1"/>
          </p:cNvSpPr>
          <p:nvPr>
            <p:ph type="title"/>
          </p:nvPr>
        </p:nvSpPr>
        <p:spPr>
          <a:xfrm>
            <a:off x="609600" y="-58637"/>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Design</a:t>
            </a:r>
            <a:endParaRPr sz="4000">
              <a:latin typeface="Times New Roman"/>
              <a:ea typeface="Times New Roman"/>
              <a:cs typeface="Times New Roman"/>
              <a:sym typeface="Times New Roman"/>
            </a:endParaRPr>
          </a:p>
        </p:txBody>
      </p:sp>
      <p:sp>
        <p:nvSpPr>
          <p:cNvPr id="148" name="Google Shape;148;p21"/>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
        <p:nvSpPr>
          <p:cNvPr id="149" name="Google Shape;149;p21"/>
          <p:cNvSpPr txBox="1"/>
          <p:nvPr/>
        </p:nvSpPr>
        <p:spPr>
          <a:xfrm>
            <a:off x="247850" y="788900"/>
            <a:ext cx="3743100" cy="5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Times New Roman"/>
                <a:ea typeface="Times New Roman"/>
                <a:cs typeface="Times New Roman"/>
                <a:sym typeface="Times New Roman"/>
              </a:rPr>
              <a:t>Sequence Diagram</a:t>
            </a:r>
            <a:endParaRPr sz="2100">
              <a:solidFill>
                <a:schemeClr val="dk1"/>
              </a:solidFill>
              <a:latin typeface="Times New Roman"/>
              <a:ea typeface="Times New Roman"/>
              <a:cs typeface="Times New Roman"/>
              <a:sym typeface="Times New Roman"/>
            </a:endParaRPr>
          </a:p>
        </p:txBody>
      </p:sp>
      <p:pic>
        <p:nvPicPr>
          <p:cNvPr id="150" name="Google Shape;150;p21"/>
          <p:cNvPicPr preferRelativeResize="0"/>
          <p:nvPr/>
        </p:nvPicPr>
        <p:blipFill>
          <a:blip r:embed="rId3">
            <a:alphaModFix/>
          </a:blip>
          <a:stretch>
            <a:fillRect/>
          </a:stretch>
        </p:blipFill>
        <p:spPr>
          <a:xfrm>
            <a:off x="723500" y="1326500"/>
            <a:ext cx="10744900" cy="5029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title"/>
          </p:nvPr>
        </p:nvSpPr>
        <p:spPr>
          <a:xfrm>
            <a:off x="609600" y="-58637"/>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Methodology</a:t>
            </a:r>
            <a:endParaRPr sz="4000">
              <a:latin typeface="Times New Roman"/>
              <a:ea typeface="Times New Roman"/>
              <a:cs typeface="Times New Roman"/>
              <a:sym typeface="Times New Roman"/>
            </a:endParaRPr>
          </a:p>
        </p:txBody>
      </p:sp>
      <p:sp>
        <p:nvSpPr>
          <p:cNvPr id="156" name="Google Shape;156;p22"/>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
        <p:nvSpPr>
          <p:cNvPr id="157" name="Google Shape;157;p22"/>
          <p:cNvSpPr txBox="1"/>
          <p:nvPr/>
        </p:nvSpPr>
        <p:spPr>
          <a:xfrm>
            <a:off x="648000" y="1084375"/>
            <a:ext cx="10896000" cy="481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50" b="1" dirty="0">
                <a:solidFill>
                  <a:schemeClr val="dk1"/>
                </a:solidFill>
                <a:latin typeface="Times New Roman"/>
                <a:ea typeface="Times New Roman"/>
                <a:cs typeface="Times New Roman"/>
                <a:sym typeface="Times New Roman"/>
              </a:rPr>
              <a:t>Data</a:t>
            </a:r>
            <a:r>
              <a:rPr lang="en-US" sz="2150" dirty="0">
                <a:solidFill>
                  <a:schemeClr val="dk1"/>
                </a:solidFill>
                <a:latin typeface="Times New Roman"/>
                <a:ea typeface="Times New Roman"/>
                <a:cs typeface="Times New Roman"/>
                <a:sym typeface="Times New Roman"/>
              </a:rPr>
              <a:t>: Datasets like KITTI and Waymo with annotated 3D point clouds.</a:t>
            </a:r>
            <a:br>
              <a:rPr lang="en-US" sz="2150" dirty="0">
                <a:solidFill>
                  <a:schemeClr val="dk1"/>
                </a:solidFill>
                <a:latin typeface="Times New Roman"/>
                <a:ea typeface="Times New Roman"/>
                <a:cs typeface="Times New Roman"/>
                <a:sym typeface="Times New Roman"/>
              </a:rPr>
            </a:br>
            <a:endParaRPr sz="215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150" b="1" dirty="0">
                <a:solidFill>
                  <a:schemeClr val="dk1"/>
                </a:solidFill>
                <a:latin typeface="Times New Roman"/>
                <a:ea typeface="Times New Roman"/>
                <a:cs typeface="Times New Roman"/>
                <a:sym typeface="Times New Roman"/>
              </a:rPr>
              <a:t>Preprocessing</a:t>
            </a:r>
            <a:r>
              <a:rPr lang="en-US" sz="2150" dirty="0">
                <a:solidFill>
                  <a:schemeClr val="dk1"/>
                </a:solidFill>
                <a:latin typeface="Times New Roman"/>
                <a:ea typeface="Times New Roman"/>
                <a:cs typeface="Times New Roman"/>
                <a:sym typeface="Times New Roman"/>
              </a:rPr>
              <a:t>: Pillarization, BEV transformation, denoising, outlier removal.</a:t>
            </a:r>
            <a:br>
              <a:rPr lang="en-US" sz="2150" dirty="0">
                <a:solidFill>
                  <a:schemeClr val="dk1"/>
                </a:solidFill>
                <a:latin typeface="Times New Roman"/>
                <a:ea typeface="Times New Roman"/>
                <a:cs typeface="Times New Roman"/>
                <a:sym typeface="Times New Roman"/>
              </a:rPr>
            </a:br>
            <a:endParaRPr sz="215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150" b="1" dirty="0">
                <a:solidFill>
                  <a:schemeClr val="dk1"/>
                </a:solidFill>
                <a:latin typeface="Times New Roman"/>
                <a:ea typeface="Times New Roman"/>
                <a:cs typeface="Times New Roman"/>
                <a:sym typeface="Times New Roman"/>
              </a:rPr>
              <a:t>Model Training</a:t>
            </a:r>
            <a:r>
              <a:rPr lang="en-US" sz="2150" dirty="0">
                <a:solidFill>
                  <a:schemeClr val="dk1"/>
                </a:solidFill>
                <a:latin typeface="Times New Roman"/>
                <a:ea typeface="Times New Roman"/>
                <a:cs typeface="Times New Roman"/>
                <a:sym typeface="Times New Roman"/>
              </a:rPr>
              <a:t>: Used </a:t>
            </a:r>
            <a:r>
              <a:rPr lang="en-US" sz="2150" dirty="0" err="1">
                <a:solidFill>
                  <a:schemeClr val="dk1"/>
                </a:solidFill>
                <a:latin typeface="Times New Roman"/>
                <a:ea typeface="Times New Roman"/>
                <a:cs typeface="Times New Roman"/>
                <a:sym typeface="Times New Roman"/>
              </a:rPr>
              <a:t>OpenPCDet</a:t>
            </a:r>
            <a:r>
              <a:rPr lang="en-US" sz="2150" dirty="0">
                <a:solidFill>
                  <a:schemeClr val="dk1"/>
                </a:solidFill>
                <a:latin typeface="Times New Roman"/>
                <a:ea typeface="Times New Roman"/>
                <a:cs typeface="Times New Roman"/>
                <a:sym typeface="Times New Roman"/>
              </a:rPr>
              <a:t> with pretrained weights finetuned with KITTI dataset </a:t>
            </a:r>
            <a:br>
              <a:rPr lang="en-US" sz="2150" dirty="0">
                <a:solidFill>
                  <a:schemeClr val="dk1"/>
                </a:solidFill>
                <a:latin typeface="Times New Roman"/>
                <a:ea typeface="Times New Roman"/>
                <a:cs typeface="Times New Roman"/>
                <a:sym typeface="Times New Roman"/>
              </a:rPr>
            </a:br>
            <a:endParaRPr sz="215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150" b="1" dirty="0">
                <a:solidFill>
                  <a:schemeClr val="dk1"/>
                </a:solidFill>
                <a:latin typeface="Times New Roman"/>
                <a:ea typeface="Times New Roman"/>
                <a:cs typeface="Times New Roman"/>
                <a:sym typeface="Times New Roman"/>
              </a:rPr>
              <a:t>Testing</a:t>
            </a:r>
            <a:r>
              <a:rPr lang="en-US" sz="2150" dirty="0">
                <a:solidFill>
                  <a:schemeClr val="dk1"/>
                </a:solidFill>
                <a:latin typeface="Times New Roman"/>
                <a:ea typeface="Times New Roman"/>
                <a:cs typeface="Times New Roman"/>
                <a:sym typeface="Times New Roman"/>
              </a:rPr>
              <a:t>: Evaluated using metrics like </a:t>
            </a:r>
            <a:r>
              <a:rPr lang="en-US" sz="2150" dirty="0" err="1">
                <a:solidFill>
                  <a:schemeClr val="dk1"/>
                </a:solidFill>
                <a:latin typeface="Times New Roman"/>
                <a:ea typeface="Times New Roman"/>
                <a:cs typeface="Times New Roman"/>
                <a:sym typeface="Times New Roman"/>
              </a:rPr>
              <a:t>IoU</a:t>
            </a:r>
            <a:r>
              <a:rPr lang="en-US" sz="2150" dirty="0">
                <a:solidFill>
                  <a:schemeClr val="dk1"/>
                </a:solidFill>
                <a:latin typeface="Times New Roman"/>
                <a:ea typeface="Times New Roman"/>
                <a:cs typeface="Times New Roman"/>
                <a:sym typeface="Times New Roman"/>
              </a:rPr>
              <a:t> and </a:t>
            </a:r>
            <a:r>
              <a:rPr lang="en-US" sz="2150" dirty="0" err="1">
                <a:solidFill>
                  <a:schemeClr val="dk1"/>
                </a:solidFill>
                <a:latin typeface="Times New Roman"/>
                <a:ea typeface="Times New Roman"/>
                <a:cs typeface="Times New Roman"/>
                <a:sym typeface="Times New Roman"/>
              </a:rPr>
              <a:t>mAP</a:t>
            </a:r>
            <a:r>
              <a:rPr lang="en-US" sz="2150" dirty="0">
                <a:solidFill>
                  <a:schemeClr val="dk1"/>
                </a:solidFill>
                <a:latin typeface="Times New Roman"/>
                <a:ea typeface="Times New Roman"/>
                <a:cs typeface="Times New Roman"/>
                <a:sym typeface="Times New Roman"/>
              </a:rPr>
              <a:t>.</a:t>
            </a:r>
            <a:br>
              <a:rPr lang="en-US" sz="2150" dirty="0">
                <a:solidFill>
                  <a:schemeClr val="dk1"/>
                </a:solidFill>
                <a:latin typeface="Times New Roman"/>
                <a:ea typeface="Times New Roman"/>
                <a:cs typeface="Times New Roman"/>
                <a:sym typeface="Times New Roman"/>
              </a:rPr>
            </a:br>
            <a:endParaRPr sz="215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150" b="1" dirty="0">
                <a:solidFill>
                  <a:schemeClr val="dk1"/>
                </a:solidFill>
                <a:latin typeface="Times New Roman"/>
                <a:ea typeface="Times New Roman"/>
                <a:cs typeface="Times New Roman"/>
                <a:sym typeface="Times New Roman"/>
              </a:rPr>
              <a:t>Integration</a:t>
            </a:r>
            <a:r>
              <a:rPr lang="en-US" sz="2150" dirty="0">
                <a:solidFill>
                  <a:schemeClr val="dk1"/>
                </a:solidFill>
                <a:latin typeface="Times New Roman"/>
                <a:ea typeface="Times New Roman"/>
                <a:cs typeface="Times New Roman"/>
                <a:sym typeface="Times New Roman"/>
              </a:rPr>
              <a:t>: Real-time pipeline setup using </a:t>
            </a:r>
            <a:r>
              <a:rPr lang="en-US" sz="2150" dirty="0" err="1">
                <a:solidFill>
                  <a:schemeClr val="dk1"/>
                </a:solidFill>
                <a:latin typeface="Times New Roman"/>
                <a:ea typeface="Times New Roman"/>
                <a:cs typeface="Times New Roman"/>
                <a:sym typeface="Times New Roman"/>
              </a:rPr>
              <a:t>rs</a:t>
            </a:r>
            <a:r>
              <a:rPr lang="en-US" sz="2150" dirty="0">
                <a:solidFill>
                  <a:schemeClr val="dk1"/>
                </a:solidFill>
                <a:latin typeface="Times New Roman"/>
                <a:ea typeface="Times New Roman"/>
                <a:cs typeface="Times New Roman"/>
                <a:sym typeface="Times New Roman"/>
              </a:rPr>
              <a:t>-capture API for L515 LiDAR.</a:t>
            </a:r>
            <a:br>
              <a:rPr lang="en-US" sz="2150" dirty="0">
                <a:solidFill>
                  <a:schemeClr val="dk1"/>
                </a:solidFill>
                <a:latin typeface="Times New Roman"/>
                <a:ea typeface="Times New Roman"/>
                <a:cs typeface="Times New Roman"/>
                <a:sym typeface="Times New Roman"/>
              </a:rPr>
            </a:br>
            <a:endParaRPr sz="215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150" b="1" dirty="0">
                <a:solidFill>
                  <a:schemeClr val="dk1"/>
                </a:solidFill>
                <a:latin typeface="Times New Roman"/>
                <a:ea typeface="Times New Roman"/>
                <a:cs typeface="Times New Roman"/>
                <a:sym typeface="Times New Roman"/>
              </a:rPr>
              <a:t>Postprocessing</a:t>
            </a:r>
            <a:r>
              <a:rPr lang="en-US" sz="2150" dirty="0">
                <a:solidFill>
                  <a:schemeClr val="dk1"/>
                </a:solidFill>
                <a:latin typeface="Times New Roman"/>
                <a:ea typeface="Times New Roman"/>
                <a:cs typeface="Times New Roman"/>
                <a:sym typeface="Times New Roman"/>
              </a:rPr>
              <a:t>: NMS, confidence thresholding, label mapping.</a:t>
            </a:r>
            <a:br>
              <a:rPr lang="en-US" sz="2150" dirty="0">
                <a:solidFill>
                  <a:schemeClr val="dk1"/>
                </a:solidFill>
                <a:latin typeface="Times New Roman"/>
                <a:ea typeface="Times New Roman"/>
                <a:cs typeface="Times New Roman"/>
                <a:sym typeface="Times New Roman"/>
              </a:rPr>
            </a:br>
            <a:endParaRPr sz="215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150" b="1" dirty="0">
                <a:solidFill>
                  <a:schemeClr val="dk1"/>
                </a:solidFill>
                <a:latin typeface="Times New Roman"/>
                <a:ea typeface="Times New Roman"/>
                <a:cs typeface="Times New Roman"/>
                <a:sym typeface="Times New Roman"/>
              </a:rPr>
              <a:t>User Interaction</a:t>
            </a:r>
            <a:r>
              <a:rPr lang="en-US" sz="2150" dirty="0">
                <a:solidFill>
                  <a:schemeClr val="dk1"/>
                </a:solidFill>
                <a:latin typeface="Times New Roman"/>
                <a:ea typeface="Times New Roman"/>
                <a:cs typeface="Times New Roman"/>
                <a:sym typeface="Times New Roman"/>
              </a:rPr>
              <a:t>: Output visualized on a display screen, assisting users in low-visibility navigation.</a:t>
            </a:r>
            <a:endParaRPr sz="215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3"/>
          <p:cNvSpPr txBox="1">
            <a:spLocks noGrp="1"/>
          </p:cNvSpPr>
          <p:nvPr>
            <p:ph type="title"/>
          </p:nvPr>
        </p:nvSpPr>
        <p:spPr>
          <a:xfrm>
            <a:off x="609600" y="-58637"/>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Results</a:t>
            </a:r>
            <a:endParaRPr sz="4000">
              <a:latin typeface="Times New Roman"/>
              <a:ea typeface="Times New Roman"/>
              <a:cs typeface="Times New Roman"/>
              <a:sym typeface="Times New Roman"/>
            </a:endParaRPr>
          </a:p>
        </p:txBody>
      </p:sp>
      <p:sp>
        <p:nvSpPr>
          <p:cNvPr id="163" name="Google Shape;163;p23"/>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pic>
        <p:nvPicPr>
          <p:cNvPr id="164" name="Google Shape;164;p23"/>
          <p:cNvPicPr preferRelativeResize="0"/>
          <p:nvPr/>
        </p:nvPicPr>
        <p:blipFill>
          <a:blip r:embed="rId3">
            <a:alphaModFix/>
          </a:blip>
          <a:stretch>
            <a:fillRect/>
          </a:stretch>
        </p:blipFill>
        <p:spPr>
          <a:xfrm>
            <a:off x="203675" y="1928987"/>
            <a:ext cx="5621725" cy="3130136"/>
          </a:xfrm>
          <a:prstGeom prst="rect">
            <a:avLst/>
          </a:prstGeom>
          <a:noFill/>
          <a:ln>
            <a:noFill/>
          </a:ln>
        </p:spPr>
      </p:pic>
      <p:pic>
        <p:nvPicPr>
          <p:cNvPr id="165" name="Google Shape;165;p23"/>
          <p:cNvPicPr preferRelativeResize="0"/>
          <p:nvPr/>
        </p:nvPicPr>
        <p:blipFill>
          <a:blip r:embed="rId4">
            <a:alphaModFix/>
          </a:blip>
          <a:stretch>
            <a:fillRect/>
          </a:stretch>
        </p:blipFill>
        <p:spPr>
          <a:xfrm>
            <a:off x="6198550" y="1928976"/>
            <a:ext cx="5715000" cy="3130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a:spLocks noGrp="1"/>
          </p:cNvSpPr>
          <p:nvPr>
            <p:ph type="title"/>
          </p:nvPr>
        </p:nvSpPr>
        <p:spPr>
          <a:xfrm>
            <a:off x="609600" y="-58637"/>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Conclusion &amp; Future Work</a:t>
            </a:r>
            <a:endParaRPr sz="4000">
              <a:latin typeface="Times New Roman"/>
              <a:ea typeface="Times New Roman"/>
              <a:cs typeface="Times New Roman"/>
              <a:sym typeface="Times New Roman"/>
            </a:endParaRPr>
          </a:p>
        </p:txBody>
      </p:sp>
      <p:sp>
        <p:nvSpPr>
          <p:cNvPr id="171" name="Google Shape;171;p24"/>
          <p:cNvSpPr txBox="1">
            <a:spLocks noGrp="1"/>
          </p:cNvSpPr>
          <p:nvPr>
            <p:ph type="ftr" idx="11"/>
          </p:nvPr>
        </p:nvSpPr>
        <p:spPr>
          <a:xfrm>
            <a:off x="4165600" y="6356357"/>
            <a:ext cx="38607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
        <p:nvSpPr>
          <p:cNvPr id="172" name="Google Shape;172;p24"/>
          <p:cNvSpPr txBox="1"/>
          <p:nvPr/>
        </p:nvSpPr>
        <p:spPr>
          <a:xfrm>
            <a:off x="492150" y="1458600"/>
            <a:ext cx="11207700" cy="3940800"/>
          </a:xfrm>
          <a:prstGeom prst="rect">
            <a:avLst/>
          </a:prstGeom>
          <a:noFill/>
          <a:ln>
            <a:noFill/>
          </a:ln>
        </p:spPr>
        <p:txBody>
          <a:bodyPr spcFirstLastPara="1" wrap="square" lIns="91425" tIns="91425" rIns="91425" bIns="91425" anchor="t" anchorCtr="0">
            <a:spAutoFit/>
          </a:bodyPr>
          <a:lstStyle/>
          <a:p>
            <a:pPr marL="457200" lvl="0" indent="-365125" algn="l" rtl="0">
              <a:lnSpc>
                <a:spcPct val="115000"/>
              </a:lnSpc>
              <a:spcBef>
                <a:spcPts val="1200"/>
              </a:spcBef>
              <a:spcAft>
                <a:spcPts val="0"/>
              </a:spcAft>
              <a:buClr>
                <a:schemeClr val="dk1"/>
              </a:buClr>
              <a:buSzPts val="2150"/>
              <a:buChar char="●"/>
            </a:pPr>
            <a:r>
              <a:rPr lang="en-US" sz="2150" b="1">
                <a:solidFill>
                  <a:schemeClr val="dk1"/>
                </a:solidFill>
                <a:latin typeface="Times New Roman"/>
                <a:ea typeface="Times New Roman"/>
                <a:cs typeface="Times New Roman"/>
                <a:sym typeface="Times New Roman"/>
              </a:rPr>
              <a:t>Conclusion</a:t>
            </a:r>
            <a:r>
              <a:rPr lang="en-US" sz="2150">
                <a:solidFill>
                  <a:schemeClr val="dk1"/>
                </a:solidFill>
                <a:latin typeface="Times New Roman"/>
                <a:ea typeface="Times New Roman"/>
                <a:cs typeface="Times New Roman"/>
                <a:sym typeface="Times New Roman"/>
              </a:rPr>
              <a:t>:</a:t>
            </a:r>
            <a:endParaRPr sz="2150">
              <a:solidFill>
                <a:schemeClr val="dk1"/>
              </a:solidFill>
              <a:latin typeface="Times New Roman"/>
              <a:ea typeface="Times New Roman"/>
              <a:cs typeface="Times New Roman"/>
              <a:sym typeface="Times New Roman"/>
            </a:endParaRPr>
          </a:p>
          <a:p>
            <a:pPr marL="914400" lvl="1" indent="-365125" algn="l" rtl="0">
              <a:lnSpc>
                <a:spcPct val="115000"/>
              </a:lnSpc>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Successfully built and tested a real-time 3D object detector using PointPillars and LiDAR data.</a:t>
            </a:r>
            <a:endParaRPr sz="2150">
              <a:solidFill>
                <a:schemeClr val="dk1"/>
              </a:solidFill>
              <a:latin typeface="Times New Roman"/>
              <a:ea typeface="Times New Roman"/>
              <a:cs typeface="Times New Roman"/>
              <a:sym typeface="Times New Roman"/>
            </a:endParaRPr>
          </a:p>
          <a:p>
            <a:pPr marL="914400" lvl="1" indent="-365125" algn="l" rtl="0">
              <a:lnSpc>
                <a:spcPct val="115000"/>
              </a:lnSpc>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Deployed system demonstrates strong performance in practical scenarios.</a:t>
            </a:r>
            <a:br>
              <a:rPr lang="en-US" sz="2150">
                <a:solidFill>
                  <a:schemeClr val="dk1"/>
                </a:solidFill>
                <a:latin typeface="Times New Roman"/>
                <a:ea typeface="Times New Roman"/>
                <a:cs typeface="Times New Roman"/>
                <a:sym typeface="Times New Roman"/>
              </a:rPr>
            </a:br>
            <a:endParaRPr sz="2150">
              <a:solidFill>
                <a:schemeClr val="dk1"/>
              </a:solidFill>
              <a:latin typeface="Times New Roman"/>
              <a:ea typeface="Times New Roman"/>
              <a:cs typeface="Times New Roman"/>
              <a:sym typeface="Times New Roman"/>
            </a:endParaRPr>
          </a:p>
          <a:p>
            <a:pPr marL="457200" lvl="0" indent="-365125" algn="l" rtl="0">
              <a:lnSpc>
                <a:spcPct val="115000"/>
              </a:lnSpc>
              <a:spcBef>
                <a:spcPts val="0"/>
              </a:spcBef>
              <a:spcAft>
                <a:spcPts val="0"/>
              </a:spcAft>
              <a:buClr>
                <a:schemeClr val="dk1"/>
              </a:buClr>
              <a:buSzPts val="2150"/>
              <a:buChar char="●"/>
            </a:pPr>
            <a:r>
              <a:rPr lang="en-US" sz="2150" b="1">
                <a:solidFill>
                  <a:schemeClr val="dk1"/>
                </a:solidFill>
                <a:latin typeface="Times New Roman"/>
                <a:ea typeface="Times New Roman"/>
                <a:cs typeface="Times New Roman"/>
                <a:sym typeface="Times New Roman"/>
              </a:rPr>
              <a:t>Future Work</a:t>
            </a:r>
            <a:r>
              <a:rPr lang="en-US" sz="2150">
                <a:solidFill>
                  <a:schemeClr val="dk1"/>
                </a:solidFill>
                <a:latin typeface="Times New Roman"/>
                <a:ea typeface="Times New Roman"/>
                <a:cs typeface="Times New Roman"/>
                <a:sym typeface="Times New Roman"/>
              </a:rPr>
              <a:t>:</a:t>
            </a:r>
            <a:endParaRPr sz="2150">
              <a:solidFill>
                <a:schemeClr val="dk1"/>
              </a:solidFill>
              <a:latin typeface="Times New Roman"/>
              <a:ea typeface="Times New Roman"/>
              <a:cs typeface="Times New Roman"/>
              <a:sym typeface="Times New Roman"/>
            </a:endParaRPr>
          </a:p>
          <a:p>
            <a:pPr marL="914400" lvl="1" indent="-365125" algn="l" rtl="0">
              <a:lnSpc>
                <a:spcPct val="115000"/>
              </a:lnSpc>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Enhance uncertainty estimation and model generalization.</a:t>
            </a:r>
            <a:endParaRPr sz="2150">
              <a:solidFill>
                <a:schemeClr val="dk1"/>
              </a:solidFill>
              <a:latin typeface="Times New Roman"/>
              <a:ea typeface="Times New Roman"/>
              <a:cs typeface="Times New Roman"/>
              <a:sym typeface="Times New Roman"/>
            </a:endParaRPr>
          </a:p>
          <a:p>
            <a:pPr marL="914400" lvl="1" indent="-365125" algn="l" rtl="0">
              <a:lnSpc>
                <a:spcPct val="115000"/>
              </a:lnSpc>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Test in extreme environments (rain, fog, low light).</a:t>
            </a:r>
            <a:endParaRPr sz="2150">
              <a:solidFill>
                <a:schemeClr val="dk1"/>
              </a:solidFill>
              <a:latin typeface="Times New Roman"/>
              <a:ea typeface="Times New Roman"/>
              <a:cs typeface="Times New Roman"/>
              <a:sym typeface="Times New Roman"/>
            </a:endParaRPr>
          </a:p>
          <a:p>
            <a:pPr marL="914400" lvl="1" indent="-365125" algn="l" rtl="0">
              <a:lnSpc>
                <a:spcPct val="115000"/>
              </a:lnSpc>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Add temporal data to detect movement and improve predictions.</a:t>
            </a:r>
            <a:endParaRPr sz="2150">
              <a:solidFill>
                <a:schemeClr val="dk1"/>
              </a:solidFill>
              <a:latin typeface="Times New Roman"/>
              <a:ea typeface="Times New Roman"/>
              <a:cs typeface="Times New Roman"/>
              <a:sym typeface="Times New Roman"/>
            </a:endParaRPr>
          </a:p>
          <a:p>
            <a:pPr marL="914400" lvl="1" indent="-365125" algn="l" rtl="0">
              <a:lnSpc>
                <a:spcPct val="115000"/>
              </a:lnSpc>
              <a:spcBef>
                <a:spcPts val="0"/>
              </a:spcBef>
              <a:spcAft>
                <a:spcPts val="0"/>
              </a:spcAft>
              <a:buClr>
                <a:schemeClr val="dk1"/>
              </a:buClr>
              <a:buSzPts val="2150"/>
              <a:buFont typeface="Times New Roman"/>
              <a:buChar char="○"/>
            </a:pPr>
            <a:r>
              <a:rPr lang="en-US" sz="2150">
                <a:solidFill>
                  <a:schemeClr val="dk1"/>
                </a:solidFill>
                <a:latin typeface="Times New Roman"/>
                <a:ea typeface="Times New Roman"/>
                <a:cs typeface="Times New Roman"/>
                <a:sym typeface="Times New Roman"/>
              </a:rPr>
              <a:t>Use transfer learning for better performance in low-data domains.</a:t>
            </a:r>
            <a:endParaRPr sz="2150" b="1">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5"/>
          <p:cNvSpPr txBox="1">
            <a:spLocks noGrp="1"/>
          </p:cNvSpPr>
          <p:nvPr>
            <p:ph type="body" idx="1"/>
          </p:nvPr>
        </p:nvSpPr>
        <p:spPr>
          <a:xfrm>
            <a:off x="838200" y="339969"/>
            <a:ext cx="10515600" cy="5532194"/>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8800"/>
              <a:buNone/>
            </a:pPr>
            <a:endParaRPr sz="8800">
              <a:latin typeface="Times New Roman"/>
              <a:ea typeface="Times New Roman"/>
              <a:cs typeface="Times New Roman"/>
              <a:sym typeface="Times New Roman"/>
            </a:endParaRPr>
          </a:p>
          <a:p>
            <a:pPr marL="0" lvl="0" indent="0" algn="ctr" rtl="0">
              <a:spcBef>
                <a:spcPts val="1760"/>
              </a:spcBef>
              <a:spcAft>
                <a:spcPts val="0"/>
              </a:spcAft>
              <a:buClr>
                <a:schemeClr val="dk1"/>
              </a:buClr>
              <a:buSzPts val="8800"/>
              <a:buNone/>
            </a:pPr>
            <a:r>
              <a:rPr lang="en-US" sz="8800" i="1">
                <a:latin typeface="Times New Roman"/>
                <a:ea typeface="Times New Roman"/>
                <a:cs typeface="Times New Roman"/>
                <a:sym typeface="Times New Roman"/>
              </a:rPr>
              <a:t>THANK YOU</a:t>
            </a:r>
            <a:endParaRPr sz="8800" i="1">
              <a:latin typeface="Times New Roman"/>
              <a:ea typeface="Times New Roman"/>
              <a:cs typeface="Times New Roman"/>
              <a:sym typeface="Times New Roman"/>
            </a:endParaRPr>
          </a:p>
          <a:p>
            <a:pPr marL="0" lvl="0" indent="0" algn="ctr" rtl="0">
              <a:spcBef>
                <a:spcPts val="1760"/>
              </a:spcBef>
              <a:spcAft>
                <a:spcPts val="0"/>
              </a:spcAft>
              <a:buClr>
                <a:schemeClr val="dk1"/>
              </a:buClr>
              <a:buSzPts val="8800"/>
              <a:buNone/>
            </a:pPr>
            <a:endParaRPr sz="3500" i="1">
              <a:latin typeface="Times New Roman"/>
              <a:ea typeface="Times New Roman"/>
              <a:cs typeface="Times New Roman"/>
              <a:sym typeface="Times New Roman"/>
            </a:endParaRPr>
          </a:p>
          <a:p>
            <a:pPr marL="0" lvl="0" indent="0" algn="ctr" rtl="0">
              <a:spcBef>
                <a:spcPts val="1760"/>
              </a:spcBef>
              <a:spcAft>
                <a:spcPts val="0"/>
              </a:spcAft>
              <a:buClr>
                <a:schemeClr val="dk1"/>
              </a:buClr>
              <a:buSzPts val="8800"/>
              <a:buNone/>
            </a:pPr>
            <a:endParaRPr sz="8800">
              <a:latin typeface="Times New Roman"/>
              <a:ea typeface="Times New Roman"/>
              <a:cs typeface="Times New Roman"/>
              <a:sym typeface="Times New Roman"/>
            </a:endParaRPr>
          </a:p>
        </p:txBody>
      </p:sp>
      <p:sp>
        <p:nvSpPr>
          <p:cNvPr id="178" name="Google Shape;178;p25"/>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Dept.of CSE- AIML &amp; IOT                                                                     VNR VJIET</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723</Words>
  <Application>Microsoft Office PowerPoint</Application>
  <PresentationFormat>Widescreen</PresentationFormat>
  <Paragraphs>72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3D Object Detection with LiDAR</vt:lpstr>
      <vt:lpstr>Abstract </vt:lpstr>
      <vt:lpstr>Introduction</vt:lpstr>
      <vt:lpstr>Tools &amp; Technologies Used</vt:lpstr>
      <vt:lpstr>Literature Survey</vt:lpstr>
      <vt:lpstr>Summary of Literature Survey</vt:lpstr>
      <vt:lpstr>Design</vt:lpstr>
      <vt:lpstr>Design</vt:lpstr>
      <vt:lpstr>Design</vt:lpstr>
      <vt:lpstr>Methodology</vt:lpstr>
      <vt:lpstr>Results</vt:lpstr>
      <vt:lpstr>Conclusion &amp;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JVS Chandradithya</cp:lastModifiedBy>
  <cp:revision>1</cp:revision>
  <dcterms:modified xsi:type="dcterms:W3CDTF">2025-05-24T07:03:50Z</dcterms:modified>
</cp:coreProperties>
</file>